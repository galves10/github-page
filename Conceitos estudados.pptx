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</p:sldIdLst>
  <p:sldSz cy="5143500" cx="9144000"/>
  <p:notesSz cx="6858000" cy="9144000"/>
  <p:embeddedFontLst>
    <p:embeddedFont>
      <p:font typeface="Roboto"/>
      <p:regular r:id="rId12"/>
      <p:bold r:id="rId13"/>
      <p:italic r:id="rId14"/>
      <p:boldItalic r:id="rId15"/>
    </p:embeddedFont>
    <p:embeddedFont>
      <p:font typeface="PT Sans Narrow"/>
      <p:regular r:id="rId16"/>
      <p:bold r:id="rId17"/>
    </p:embeddedFont>
    <p:embeddedFont>
      <p:font typeface="Open Sans"/>
      <p:regular r:id="rId18"/>
      <p:bold r:id="rId19"/>
      <p:italic r:id="rId20"/>
      <p:boldItalic r:id="rId2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8C80DA54-7F9A-4ABA-B3C7-87D3AC5BA84D}">
  <a:tblStyle styleId="{8C80DA54-7F9A-4ABA-B3C7-87D3AC5BA84D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OpenSans-italic.fnt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21" Type="http://schemas.openxmlformats.org/officeDocument/2006/relationships/font" Target="fonts/OpenSans-boldItalic.fntdata"/><Relationship Id="rId13" Type="http://schemas.openxmlformats.org/officeDocument/2006/relationships/font" Target="fonts/Roboto-bold.fntdata"/><Relationship Id="rId12" Type="http://schemas.openxmlformats.org/officeDocument/2006/relationships/font" Target="fonts/Roboto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font" Target="fonts/Roboto-boldItalic.fntdata"/><Relationship Id="rId14" Type="http://schemas.openxmlformats.org/officeDocument/2006/relationships/font" Target="fonts/Roboto-italic.fntdata"/><Relationship Id="rId17" Type="http://schemas.openxmlformats.org/officeDocument/2006/relationships/font" Target="fonts/PTSansNarrow-bold.fntdata"/><Relationship Id="rId16" Type="http://schemas.openxmlformats.org/officeDocument/2006/relationships/font" Target="fonts/PTSansNarrow-regular.fntdata"/><Relationship Id="rId5" Type="http://schemas.openxmlformats.org/officeDocument/2006/relationships/slideMaster" Target="slideMasters/slideMaster1.xml"/><Relationship Id="rId19" Type="http://schemas.openxmlformats.org/officeDocument/2006/relationships/font" Target="fonts/OpenSans-bold.fntdata"/><Relationship Id="rId6" Type="http://schemas.openxmlformats.org/officeDocument/2006/relationships/notesMaster" Target="notesMasters/notesMaster1.xml"/><Relationship Id="rId18" Type="http://schemas.openxmlformats.org/officeDocument/2006/relationships/font" Target="fonts/OpenSans-regular.fntdata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4" name="Google Shape;64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0" name="Google Shape;70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6" name="Google Shape;156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1" name="Google Shape;161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6" name="Google Shape;166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Google Shape;10;p2"/>
          <p:cNvCxnSpPr/>
          <p:nvPr/>
        </p:nvCxnSpPr>
        <p:spPr>
          <a:xfrm>
            <a:off x="7007735" y="3176888"/>
            <a:ext cx="562200" cy="0"/>
          </a:xfrm>
          <a:prstGeom prst="straightConnector1">
            <a:avLst/>
          </a:prstGeom>
          <a:noFill/>
          <a:ln cap="flat" cmpd="sng" w="762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" name="Google Shape;11;p2"/>
          <p:cNvCxnSpPr/>
          <p:nvPr/>
        </p:nvCxnSpPr>
        <p:spPr>
          <a:xfrm>
            <a:off x="1575035" y="3158252"/>
            <a:ext cx="562200" cy="0"/>
          </a:xfrm>
          <a:prstGeom prst="straightConnector1">
            <a:avLst/>
          </a:prstGeom>
          <a:noFill/>
          <a:ln cap="flat" cmpd="sng" w="762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2" name="Google Shape;12;p2"/>
          <p:cNvGrpSpPr/>
          <p:nvPr/>
        </p:nvGrpSpPr>
        <p:grpSpPr>
          <a:xfrm>
            <a:off x="1004144" y="1022025"/>
            <a:ext cx="7136668" cy="152400"/>
            <a:chOff x="1346429" y="1011300"/>
            <a:chExt cx="6452100" cy="152400"/>
          </a:xfrm>
        </p:grpSpPr>
        <p:cxnSp>
          <p:nvCxnSpPr>
            <p:cNvPr id="13" name="Google Shape;13;p2"/>
            <p:cNvCxnSpPr/>
            <p:nvPr/>
          </p:nvCxnSpPr>
          <p:spPr>
            <a:xfrm rot="10800000">
              <a:off x="1346429" y="1011300"/>
              <a:ext cx="6452100" cy="0"/>
            </a:xfrm>
            <a:prstGeom prst="straightConnector1">
              <a:avLst/>
            </a:prstGeom>
            <a:noFill/>
            <a:ln cap="flat" cmpd="sng" w="7620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4" name="Google Shape;14;p2"/>
            <p:cNvCxnSpPr/>
            <p:nvPr/>
          </p:nvCxnSpPr>
          <p:spPr>
            <a:xfrm rot="10800000">
              <a:off x="1346429" y="1163700"/>
              <a:ext cx="6452100" cy="0"/>
            </a:xfrm>
            <a:prstGeom prst="straightConnector1">
              <a:avLst/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15" name="Google Shape;15;p2"/>
          <p:cNvGrpSpPr/>
          <p:nvPr/>
        </p:nvGrpSpPr>
        <p:grpSpPr>
          <a:xfrm>
            <a:off x="1004151" y="3969100"/>
            <a:ext cx="7136668" cy="152400"/>
            <a:chOff x="1346435" y="3969088"/>
            <a:chExt cx="6452100" cy="152400"/>
          </a:xfrm>
        </p:grpSpPr>
        <p:cxnSp>
          <p:nvCxnSpPr>
            <p:cNvPr id="16" name="Google Shape;16;p2"/>
            <p:cNvCxnSpPr/>
            <p:nvPr/>
          </p:nvCxnSpPr>
          <p:spPr>
            <a:xfrm>
              <a:off x="1346435" y="4121488"/>
              <a:ext cx="6452100" cy="0"/>
            </a:xfrm>
            <a:prstGeom prst="straightConnector1">
              <a:avLst/>
            </a:prstGeom>
            <a:noFill/>
            <a:ln cap="flat" cmpd="sng" w="7620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7" name="Google Shape;17;p2"/>
            <p:cNvCxnSpPr/>
            <p:nvPr/>
          </p:nvCxnSpPr>
          <p:spPr>
            <a:xfrm>
              <a:off x="1346435" y="3969088"/>
              <a:ext cx="6452100" cy="0"/>
            </a:xfrm>
            <a:prstGeom prst="straightConnector1">
              <a:avLst/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18" name="Google Shape;18;p2"/>
          <p:cNvSpPr txBox="1"/>
          <p:nvPr>
            <p:ph type="ctrTitle"/>
          </p:nvPr>
        </p:nvSpPr>
        <p:spPr>
          <a:xfrm>
            <a:off x="1004150" y="1751764"/>
            <a:ext cx="7136700" cy="1022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9pPr>
          </a:lstStyle>
          <a:p/>
        </p:txBody>
      </p:sp>
      <p:sp>
        <p:nvSpPr>
          <p:cNvPr id="19" name="Google Shape;19;p2"/>
          <p:cNvSpPr txBox="1"/>
          <p:nvPr>
            <p:ph idx="1" type="subTitle"/>
          </p:nvPr>
        </p:nvSpPr>
        <p:spPr>
          <a:xfrm>
            <a:off x="2137225" y="2850039"/>
            <a:ext cx="48705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20" name="Google Shape;20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/>
          <p:nvPr/>
        </p:nvSpPr>
        <p:spPr>
          <a:xfrm>
            <a:off x="-75" y="5045700"/>
            <a:ext cx="9144000" cy="978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" name="Google Shape;23;p3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1" type="body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5" name="Google Shape;2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4"/>
          <p:cNvSpPr/>
          <p:nvPr/>
        </p:nvSpPr>
        <p:spPr>
          <a:xfrm>
            <a:off x="-50" y="2571900"/>
            <a:ext cx="9144000" cy="2571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" name="Google Shape;28;p4"/>
          <p:cNvSpPr txBox="1"/>
          <p:nvPr>
            <p:ph type="title"/>
          </p:nvPr>
        </p:nvSpPr>
        <p:spPr>
          <a:xfrm>
            <a:off x="311700" y="814800"/>
            <a:ext cx="8571300" cy="94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29" name="Google Shape;2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5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" type="body"/>
          </p:nvPr>
        </p:nvSpPr>
        <p:spPr>
          <a:xfrm>
            <a:off x="311700" y="1266175"/>
            <a:ext cx="3999900" cy="330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3" name="Google Shape;33;p5"/>
          <p:cNvSpPr txBox="1"/>
          <p:nvPr>
            <p:ph idx="2" type="body"/>
          </p:nvPr>
        </p:nvSpPr>
        <p:spPr>
          <a:xfrm>
            <a:off x="4832400" y="1266175"/>
            <a:ext cx="3999900" cy="330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4" name="Google Shape;3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6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37" name="Google Shape;3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0" name="Google Shape;4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1" name="Google Shape;4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6"/>
        </a:solidFill>
      </p:bgPr>
    </p:bg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"/>
          <p:cNvSpPr txBox="1"/>
          <p:nvPr>
            <p:ph type="title"/>
          </p:nvPr>
        </p:nvSpPr>
        <p:spPr>
          <a:xfrm>
            <a:off x="490250" y="526350"/>
            <a:ext cx="56136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4" name="Google Shape;4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9"/>
          <p:cNvSpPr/>
          <p:nvPr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7" name="Google Shape;47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8" name="Google Shape;48;p9"/>
          <p:cNvSpPr txBox="1"/>
          <p:nvPr>
            <p:ph type="title"/>
          </p:nvPr>
        </p:nvSpPr>
        <p:spPr>
          <a:xfrm>
            <a:off x="265500" y="1039675"/>
            <a:ext cx="4045200" cy="1675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9" name="Google Shape;49;p9"/>
          <p:cNvSpPr txBox="1"/>
          <p:nvPr>
            <p:ph idx="1" type="subTitle"/>
          </p:nvPr>
        </p:nvSpPr>
        <p:spPr>
          <a:xfrm>
            <a:off x="265500" y="27268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0" name="Google Shape;50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1" name="Google Shape;51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0"/>
          <p:cNvSpPr txBox="1"/>
          <p:nvPr>
            <p:ph idx="1" type="body"/>
          </p:nvPr>
        </p:nvSpPr>
        <p:spPr>
          <a:xfrm>
            <a:off x="311700" y="4230725"/>
            <a:ext cx="5998800" cy="59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T Sans Narrow"/>
              <a:buNone/>
              <a:defRPr sz="2400">
                <a:latin typeface="PT Sans Narrow"/>
                <a:ea typeface="PT Sans Narrow"/>
                <a:cs typeface="PT Sans Narrow"/>
                <a:sym typeface="PT Sans Narrow"/>
              </a:defRPr>
            </a:lvl1pPr>
          </a:lstStyle>
          <a:p/>
        </p:txBody>
      </p:sp>
      <p:sp>
        <p:nvSpPr>
          <p:cNvPr id="54" name="Google Shape;54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1"/>
          <p:cNvSpPr/>
          <p:nvPr/>
        </p:nvSpPr>
        <p:spPr>
          <a:xfrm>
            <a:off x="-75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" name="Google Shape;57;p11"/>
          <p:cNvSpPr txBox="1"/>
          <p:nvPr>
            <p:ph hasCustomPrompt="1" type="title"/>
          </p:nvPr>
        </p:nvSpPr>
        <p:spPr>
          <a:xfrm>
            <a:off x="311700" y="1304850"/>
            <a:ext cx="8520600" cy="153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8" name="Google Shape;58;p11"/>
          <p:cNvSpPr txBox="1"/>
          <p:nvPr>
            <p:ph idx="1" type="body"/>
          </p:nvPr>
        </p:nvSpPr>
        <p:spPr>
          <a:xfrm>
            <a:off x="311700" y="2995650"/>
            <a:ext cx="8520600" cy="10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9" name="Google Shape;59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tropic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i="0" sz="3600" u="none" cap="none" strike="noStrik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i="0" sz="3600" u="none" cap="none" strike="noStrik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i="0" sz="3600" u="none" cap="none" strike="noStrik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i="0" sz="3600" u="none" cap="none" strike="noStrik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i="0" sz="3600" u="none" cap="none" strike="noStrik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i="0" sz="3600" u="none" cap="none" strike="noStrik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i="0" sz="3600" u="none" cap="none" strike="noStrik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i="0" sz="3600" u="none" cap="none" strike="noStrik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i="0" sz="3600" u="none" cap="none" strike="noStrik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Open Sans"/>
              <a:buChar char="●"/>
              <a:defRPr b="0" i="0" sz="18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 b="0" i="0" sz="14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 b="0" i="0" sz="14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●"/>
              <a:defRPr b="0" i="0" sz="14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 b="0" i="0" sz="14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 b="0" i="0" sz="14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●"/>
              <a:defRPr b="0" i="0" sz="14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 b="0" i="0" sz="14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 b="0" i="0" sz="14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3"/>
          <p:cNvSpPr txBox="1"/>
          <p:nvPr>
            <p:ph type="ctrTitle"/>
          </p:nvPr>
        </p:nvSpPr>
        <p:spPr>
          <a:xfrm>
            <a:off x="1004150" y="1751764"/>
            <a:ext cx="7136700" cy="1022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</a:pPr>
            <a:r>
              <a:rPr lang="pt-BR"/>
              <a:t>Bootcamp 1</a:t>
            </a:r>
            <a:endParaRPr/>
          </a:p>
        </p:txBody>
      </p:sp>
      <p:sp>
        <p:nvSpPr>
          <p:cNvPr id="67" name="Google Shape;67;p13"/>
          <p:cNvSpPr txBox="1"/>
          <p:nvPr>
            <p:ph idx="1" type="subTitle"/>
          </p:nvPr>
        </p:nvSpPr>
        <p:spPr>
          <a:xfrm>
            <a:off x="2137225" y="2850039"/>
            <a:ext cx="48705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pt-BR"/>
              <a:t>Desafio 1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4"/>
          <p:cNvSpPr txBox="1"/>
          <p:nvPr>
            <p:ph type="title"/>
          </p:nvPr>
        </p:nvSpPr>
        <p:spPr>
          <a:xfrm>
            <a:off x="-164400" y="398050"/>
            <a:ext cx="8520600" cy="70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pt-BR"/>
              <a:t>  Diagrama  Github</a:t>
            </a:r>
            <a:endParaRPr/>
          </a:p>
        </p:txBody>
      </p:sp>
      <p:sp>
        <p:nvSpPr>
          <p:cNvPr id="73" name="Google Shape;73;p14"/>
          <p:cNvSpPr txBox="1"/>
          <p:nvPr>
            <p:ph idx="1" type="body"/>
          </p:nvPr>
        </p:nvSpPr>
        <p:spPr>
          <a:xfrm>
            <a:off x="9208975" y="2412150"/>
            <a:ext cx="11700" cy="264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800"/>
              <a:buNone/>
            </a:pPr>
            <a:r>
              <a:t/>
            </a:r>
            <a:endParaRPr/>
          </a:p>
        </p:txBody>
      </p:sp>
      <p:cxnSp>
        <p:nvCxnSpPr>
          <p:cNvPr id="74" name="Google Shape;74;p14"/>
          <p:cNvCxnSpPr>
            <a:stCxn id="75" idx="6"/>
            <a:endCxn id="76" idx="2"/>
          </p:cNvCxnSpPr>
          <p:nvPr/>
        </p:nvCxnSpPr>
        <p:spPr>
          <a:xfrm flipH="1" rot="10800000">
            <a:off x="2471725" y="1192475"/>
            <a:ext cx="608400" cy="13323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rgbClr val="C2C2C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7" name="Google Shape;77;p14"/>
          <p:cNvCxnSpPr>
            <a:stCxn id="75" idx="6"/>
            <a:endCxn id="78" idx="2"/>
          </p:cNvCxnSpPr>
          <p:nvPr/>
        </p:nvCxnSpPr>
        <p:spPr>
          <a:xfrm flipH="1" rot="10800000">
            <a:off x="2471725" y="751775"/>
            <a:ext cx="608400" cy="1773000"/>
          </a:xfrm>
          <a:prstGeom prst="bentConnector3">
            <a:avLst>
              <a:gd fmla="val 49990" name="adj1"/>
            </a:avLst>
          </a:prstGeom>
          <a:noFill/>
          <a:ln cap="flat" cmpd="sng" w="9525">
            <a:solidFill>
              <a:srgbClr val="C2C2C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9" name="Google Shape;79;p14"/>
          <p:cNvCxnSpPr>
            <a:stCxn id="80" idx="3"/>
            <a:endCxn id="81" idx="2"/>
          </p:cNvCxnSpPr>
          <p:nvPr/>
        </p:nvCxnSpPr>
        <p:spPr>
          <a:xfrm flipH="1" rot="10800000">
            <a:off x="4436300" y="530350"/>
            <a:ext cx="586200" cy="2214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rgbClr val="C2C2C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2" name="Google Shape;82;p14"/>
          <p:cNvCxnSpPr>
            <a:stCxn id="80" idx="3"/>
            <a:endCxn id="83" idx="2"/>
          </p:cNvCxnSpPr>
          <p:nvPr/>
        </p:nvCxnSpPr>
        <p:spPr>
          <a:xfrm flipH="1" rot="10800000">
            <a:off x="4436300" y="308650"/>
            <a:ext cx="586200" cy="4431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rgbClr val="C2C2C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4" name="Google Shape;84;p14"/>
          <p:cNvCxnSpPr>
            <a:stCxn id="85" idx="3"/>
            <a:endCxn id="86" idx="2"/>
          </p:cNvCxnSpPr>
          <p:nvPr/>
        </p:nvCxnSpPr>
        <p:spPr>
          <a:xfrm flipH="1" rot="10800000">
            <a:off x="4516400" y="1180150"/>
            <a:ext cx="506100" cy="849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rgbClr val="C2C2C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7" name="Google Shape;87;p14"/>
          <p:cNvCxnSpPr>
            <a:stCxn id="85" idx="3"/>
            <a:endCxn id="88" idx="2"/>
          </p:cNvCxnSpPr>
          <p:nvPr/>
        </p:nvCxnSpPr>
        <p:spPr>
          <a:xfrm>
            <a:off x="4516400" y="1265050"/>
            <a:ext cx="506100" cy="5073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rgbClr val="C2C2C2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89" name="Google Shape;89;p14"/>
          <p:cNvGrpSpPr/>
          <p:nvPr/>
        </p:nvGrpSpPr>
        <p:grpSpPr>
          <a:xfrm>
            <a:off x="5022500" y="370600"/>
            <a:ext cx="1784400" cy="319200"/>
            <a:chOff x="5592550" y="1018950"/>
            <a:chExt cx="1784400" cy="319200"/>
          </a:xfrm>
        </p:grpSpPr>
        <p:sp>
          <p:nvSpPr>
            <p:cNvPr id="90" name="Google Shape;90;p14"/>
            <p:cNvSpPr/>
            <p:nvPr/>
          </p:nvSpPr>
          <p:spPr>
            <a:xfrm>
              <a:off x="5766550" y="1018950"/>
              <a:ext cx="1610400" cy="319200"/>
            </a:xfrm>
            <a:prstGeom prst="roundRect">
              <a:avLst>
                <a:gd fmla="val 16667" name="adj"/>
              </a:avLst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b="0" i="0" lang="pt-BR" sz="1100" u="none" cap="none" strike="noStrike">
                  <a:solidFill>
                    <a:srgbClr val="1B786F"/>
                  </a:solidFill>
                  <a:latin typeface="Roboto"/>
                  <a:ea typeface="Roboto"/>
                  <a:cs typeface="Roboto"/>
                  <a:sym typeface="Roboto"/>
                </a:rPr>
                <a:t>Desafio Intermediário</a:t>
              </a:r>
              <a:endParaRPr b="0" i="0" sz="1100" u="none" cap="none" strike="noStrike">
                <a:solidFill>
                  <a:srgbClr val="1B786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81" name="Google Shape;81;p14"/>
            <p:cNvSpPr/>
            <p:nvPr/>
          </p:nvSpPr>
          <p:spPr>
            <a:xfrm>
              <a:off x="5592550" y="1091550"/>
              <a:ext cx="174000" cy="174000"/>
            </a:xfrm>
            <a:prstGeom prst="ellipse">
              <a:avLst/>
            </a:prstGeom>
            <a:solidFill>
              <a:srgbClr val="249C9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91" name="Google Shape;91;p14"/>
          <p:cNvGrpSpPr/>
          <p:nvPr/>
        </p:nvGrpSpPr>
        <p:grpSpPr>
          <a:xfrm>
            <a:off x="3080000" y="592150"/>
            <a:ext cx="1356300" cy="319200"/>
            <a:chOff x="3650050" y="1476150"/>
            <a:chExt cx="1356300" cy="319200"/>
          </a:xfrm>
        </p:grpSpPr>
        <p:sp>
          <p:nvSpPr>
            <p:cNvPr id="80" name="Google Shape;80;p14"/>
            <p:cNvSpPr/>
            <p:nvPr/>
          </p:nvSpPr>
          <p:spPr>
            <a:xfrm>
              <a:off x="3824050" y="1476150"/>
              <a:ext cx="1182300" cy="319200"/>
            </a:xfrm>
            <a:prstGeom prst="roundRect">
              <a:avLst>
                <a:gd fmla="val 16667" name="adj"/>
              </a:avLst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b="0" i="0" lang="pt-BR" sz="1100" u="none" cap="none" strike="noStrike">
                  <a:solidFill>
                    <a:srgbClr val="1B786F"/>
                  </a:solidFill>
                  <a:latin typeface="Roboto"/>
                  <a:ea typeface="Roboto"/>
                  <a:cs typeface="Roboto"/>
                  <a:sym typeface="Roboto"/>
                </a:rPr>
                <a:t>BootCamp 1</a:t>
              </a:r>
              <a:endParaRPr b="0" i="0" sz="1100" u="none" cap="none" strike="noStrike">
                <a:solidFill>
                  <a:srgbClr val="1B786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78" name="Google Shape;78;p14"/>
            <p:cNvSpPr/>
            <p:nvPr/>
          </p:nvSpPr>
          <p:spPr>
            <a:xfrm>
              <a:off x="3650050" y="1548750"/>
              <a:ext cx="174000" cy="174000"/>
            </a:xfrm>
            <a:prstGeom prst="ellipse">
              <a:avLst/>
            </a:prstGeom>
            <a:solidFill>
              <a:srgbClr val="1D7E7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92" name="Google Shape;92;p14"/>
          <p:cNvGrpSpPr/>
          <p:nvPr/>
        </p:nvGrpSpPr>
        <p:grpSpPr>
          <a:xfrm>
            <a:off x="1109450" y="2365175"/>
            <a:ext cx="1362275" cy="319200"/>
            <a:chOff x="1596750" y="2412150"/>
            <a:chExt cx="1362275" cy="319200"/>
          </a:xfrm>
        </p:grpSpPr>
        <p:sp>
          <p:nvSpPr>
            <p:cNvPr id="93" name="Google Shape;93;p14"/>
            <p:cNvSpPr/>
            <p:nvPr/>
          </p:nvSpPr>
          <p:spPr>
            <a:xfrm>
              <a:off x="1596750" y="2412150"/>
              <a:ext cx="1182300" cy="319200"/>
            </a:xfrm>
            <a:prstGeom prst="roundRect">
              <a:avLst>
                <a:gd fmla="val 16667" name="adj"/>
              </a:avLst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b="0" i="0" lang="pt-BR" sz="1100" u="none" cap="none" strike="noStrike">
                  <a:solidFill>
                    <a:srgbClr val="1B786F"/>
                  </a:solidFill>
                  <a:latin typeface="Roboto"/>
                  <a:ea typeface="Roboto"/>
                  <a:cs typeface="Roboto"/>
                  <a:sym typeface="Roboto"/>
                </a:rPr>
                <a:t>Ciência da Computação 1 Semestre</a:t>
              </a:r>
              <a:endParaRPr b="0" i="0" sz="1100" u="none" cap="none" strike="noStrike">
                <a:solidFill>
                  <a:srgbClr val="1B786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75" name="Google Shape;75;p14"/>
            <p:cNvSpPr/>
            <p:nvPr/>
          </p:nvSpPr>
          <p:spPr>
            <a:xfrm>
              <a:off x="2785025" y="2484750"/>
              <a:ext cx="174000" cy="174000"/>
            </a:xfrm>
            <a:prstGeom prst="ellipse">
              <a:avLst/>
            </a:prstGeom>
            <a:solidFill>
              <a:srgbClr val="155B5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94" name="Google Shape;94;p14"/>
          <p:cNvGrpSpPr/>
          <p:nvPr/>
        </p:nvGrpSpPr>
        <p:grpSpPr>
          <a:xfrm>
            <a:off x="3080125" y="1105450"/>
            <a:ext cx="1436275" cy="319200"/>
            <a:chOff x="3476125" y="1152425"/>
            <a:chExt cx="1436275" cy="319200"/>
          </a:xfrm>
        </p:grpSpPr>
        <p:sp>
          <p:nvSpPr>
            <p:cNvPr id="85" name="Google Shape;85;p14"/>
            <p:cNvSpPr/>
            <p:nvPr/>
          </p:nvSpPr>
          <p:spPr>
            <a:xfrm>
              <a:off x="3730100" y="1152425"/>
              <a:ext cx="1182300" cy="319200"/>
            </a:xfrm>
            <a:prstGeom prst="roundRect">
              <a:avLst>
                <a:gd fmla="val 16667" name="adj"/>
              </a:avLst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b="0" i="0" lang="pt-BR" sz="1100" u="none" cap="none" strike="noStrike">
                  <a:solidFill>
                    <a:srgbClr val="1B786F"/>
                  </a:solidFill>
                  <a:latin typeface="Roboto"/>
                  <a:ea typeface="Roboto"/>
                  <a:cs typeface="Roboto"/>
                  <a:sym typeface="Roboto"/>
                </a:rPr>
                <a:t>Matemática para Computação</a:t>
              </a:r>
              <a:endParaRPr b="0" i="0" sz="1100" u="none" cap="none" strike="noStrike">
                <a:solidFill>
                  <a:srgbClr val="1B786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76" name="Google Shape;76;p14"/>
            <p:cNvSpPr/>
            <p:nvPr/>
          </p:nvSpPr>
          <p:spPr>
            <a:xfrm>
              <a:off x="3476125" y="1152425"/>
              <a:ext cx="174000" cy="174000"/>
            </a:xfrm>
            <a:prstGeom prst="ellipse">
              <a:avLst/>
            </a:prstGeom>
            <a:solidFill>
              <a:srgbClr val="1D7E7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95" name="Google Shape;95;p14"/>
          <p:cNvGrpSpPr/>
          <p:nvPr/>
        </p:nvGrpSpPr>
        <p:grpSpPr>
          <a:xfrm>
            <a:off x="5022500" y="163825"/>
            <a:ext cx="1356300" cy="319200"/>
            <a:chOff x="5592550" y="1933350"/>
            <a:chExt cx="1356300" cy="319200"/>
          </a:xfrm>
        </p:grpSpPr>
        <p:sp>
          <p:nvSpPr>
            <p:cNvPr id="96" name="Google Shape;96;p14"/>
            <p:cNvSpPr/>
            <p:nvPr/>
          </p:nvSpPr>
          <p:spPr>
            <a:xfrm>
              <a:off x="5766550" y="1933350"/>
              <a:ext cx="1182300" cy="319200"/>
            </a:xfrm>
            <a:prstGeom prst="roundRect">
              <a:avLst>
                <a:gd fmla="val 16667" name="adj"/>
              </a:avLst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b="0" i="0" lang="pt-BR" sz="1100" u="none" cap="none" strike="noStrike">
                  <a:solidFill>
                    <a:srgbClr val="1B786F"/>
                  </a:solidFill>
                  <a:latin typeface="Roboto"/>
                  <a:ea typeface="Roboto"/>
                  <a:cs typeface="Roboto"/>
                  <a:sym typeface="Roboto"/>
                </a:rPr>
                <a:t>Desafio inicial</a:t>
              </a:r>
              <a:endParaRPr b="0" i="0" sz="1100" u="none" cap="none" strike="noStrike">
                <a:solidFill>
                  <a:srgbClr val="1B786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83" name="Google Shape;83;p14"/>
            <p:cNvSpPr/>
            <p:nvPr/>
          </p:nvSpPr>
          <p:spPr>
            <a:xfrm>
              <a:off x="5592550" y="1991250"/>
              <a:ext cx="174000" cy="174000"/>
            </a:xfrm>
            <a:prstGeom prst="ellipse">
              <a:avLst/>
            </a:prstGeom>
            <a:solidFill>
              <a:srgbClr val="249C9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97" name="Google Shape;97;p14"/>
          <p:cNvGrpSpPr/>
          <p:nvPr/>
        </p:nvGrpSpPr>
        <p:grpSpPr>
          <a:xfrm>
            <a:off x="5022500" y="1020475"/>
            <a:ext cx="1356300" cy="319200"/>
            <a:chOff x="5592550" y="2890950"/>
            <a:chExt cx="1356300" cy="319200"/>
          </a:xfrm>
        </p:grpSpPr>
        <p:sp>
          <p:nvSpPr>
            <p:cNvPr id="98" name="Google Shape;98;p14"/>
            <p:cNvSpPr/>
            <p:nvPr/>
          </p:nvSpPr>
          <p:spPr>
            <a:xfrm>
              <a:off x="5766550" y="2890950"/>
              <a:ext cx="1182300" cy="319200"/>
            </a:xfrm>
            <a:prstGeom prst="roundRect">
              <a:avLst>
                <a:gd fmla="val 16667" name="adj"/>
              </a:avLst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b="0" i="0" lang="pt-BR" sz="1100" u="none" cap="none" strike="noStrike">
                  <a:solidFill>
                    <a:srgbClr val="1B786F"/>
                  </a:solidFill>
                  <a:latin typeface="Roboto"/>
                  <a:ea typeface="Roboto"/>
                  <a:cs typeface="Roboto"/>
                  <a:sym typeface="Roboto"/>
                </a:rPr>
                <a:t>Exercícios Avaliativos</a:t>
              </a:r>
              <a:endParaRPr b="0" i="0" sz="1100" u="none" cap="none" strike="noStrike">
                <a:solidFill>
                  <a:srgbClr val="1B786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86" name="Google Shape;86;p14"/>
            <p:cNvSpPr/>
            <p:nvPr/>
          </p:nvSpPr>
          <p:spPr>
            <a:xfrm>
              <a:off x="5592550" y="2963550"/>
              <a:ext cx="174000" cy="174000"/>
            </a:xfrm>
            <a:prstGeom prst="ellipse">
              <a:avLst/>
            </a:prstGeom>
            <a:solidFill>
              <a:srgbClr val="249C9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99" name="Google Shape;99;p14"/>
          <p:cNvGrpSpPr/>
          <p:nvPr/>
        </p:nvGrpSpPr>
        <p:grpSpPr>
          <a:xfrm>
            <a:off x="5022500" y="1612875"/>
            <a:ext cx="1356300" cy="319200"/>
            <a:chOff x="5592550" y="3805350"/>
            <a:chExt cx="1356300" cy="319200"/>
          </a:xfrm>
        </p:grpSpPr>
        <p:sp>
          <p:nvSpPr>
            <p:cNvPr id="100" name="Google Shape;100;p14"/>
            <p:cNvSpPr/>
            <p:nvPr/>
          </p:nvSpPr>
          <p:spPr>
            <a:xfrm>
              <a:off x="5766550" y="3805350"/>
              <a:ext cx="1182300" cy="319200"/>
            </a:xfrm>
            <a:prstGeom prst="roundRect">
              <a:avLst>
                <a:gd fmla="val 16667" name="adj"/>
              </a:avLst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b="0" i="0" lang="pt-BR" sz="1100" u="none" cap="none" strike="noStrike">
                  <a:solidFill>
                    <a:srgbClr val="1B786F"/>
                  </a:solidFill>
                  <a:latin typeface="Roboto"/>
                  <a:ea typeface="Roboto"/>
                  <a:cs typeface="Roboto"/>
                  <a:sym typeface="Roboto"/>
                </a:rPr>
                <a:t>Sistematização</a:t>
              </a:r>
              <a:endParaRPr b="0" i="0" sz="1100" u="none" cap="none" strike="noStrike">
                <a:solidFill>
                  <a:srgbClr val="1B786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88" name="Google Shape;88;p14"/>
            <p:cNvSpPr/>
            <p:nvPr/>
          </p:nvSpPr>
          <p:spPr>
            <a:xfrm>
              <a:off x="5592550" y="3877950"/>
              <a:ext cx="174000" cy="174000"/>
            </a:xfrm>
            <a:prstGeom prst="ellipse">
              <a:avLst/>
            </a:prstGeom>
            <a:solidFill>
              <a:srgbClr val="249C9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01" name="Google Shape;101;p14"/>
          <p:cNvGrpSpPr/>
          <p:nvPr/>
        </p:nvGrpSpPr>
        <p:grpSpPr>
          <a:xfrm>
            <a:off x="5022500" y="1330725"/>
            <a:ext cx="1356300" cy="319200"/>
            <a:chOff x="5592550" y="2890950"/>
            <a:chExt cx="1356300" cy="319200"/>
          </a:xfrm>
        </p:grpSpPr>
        <p:sp>
          <p:nvSpPr>
            <p:cNvPr id="102" name="Google Shape;102;p14"/>
            <p:cNvSpPr/>
            <p:nvPr/>
          </p:nvSpPr>
          <p:spPr>
            <a:xfrm>
              <a:off x="5766550" y="2890950"/>
              <a:ext cx="1182300" cy="319200"/>
            </a:xfrm>
            <a:prstGeom prst="roundRect">
              <a:avLst>
                <a:gd fmla="val 16667" name="adj"/>
              </a:avLst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b="0" i="0" lang="pt-BR" sz="1100" u="none" cap="none" strike="noStrike">
                  <a:solidFill>
                    <a:srgbClr val="1B786F"/>
                  </a:solidFill>
                  <a:latin typeface="Roboto"/>
                  <a:ea typeface="Roboto"/>
                  <a:cs typeface="Roboto"/>
                  <a:sym typeface="Roboto"/>
                </a:rPr>
                <a:t>Avaliação</a:t>
              </a:r>
              <a:endParaRPr b="0" i="0" sz="1100" u="none" cap="none" strike="noStrike">
                <a:solidFill>
                  <a:srgbClr val="1B786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03" name="Google Shape;103;p14"/>
            <p:cNvSpPr/>
            <p:nvPr/>
          </p:nvSpPr>
          <p:spPr>
            <a:xfrm>
              <a:off x="5592550" y="2963550"/>
              <a:ext cx="174000" cy="174000"/>
            </a:xfrm>
            <a:prstGeom prst="ellipse">
              <a:avLst/>
            </a:prstGeom>
            <a:solidFill>
              <a:srgbClr val="249C9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04" name="Google Shape;104;p14"/>
          <p:cNvGrpSpPr/>
          <p:nvPr/>
        </p:nvGrpSpPr>
        <p:grpSpPr>
          <a:xfrm>
            <a:off x="3040013" y="1970450"/>
            <a:ext cx="1436275" cy="319200"/>
            <a:chOff x="3476125" y="1152425"/>
            <a:chExt cx="1436275" cy="319200"/>
          </a:xfrm>
        </p:grpSpPr>
        <p:sp>
          <p:nvSpPr>
            <p:cNvPr id="105" name="Google Shape;105;p14"/>
            <p:cNvSpPr/>
            <p:nvPr/>
          </p:nvSpPr>
          <p:spPr>
            <a:xfrm>
              <a:off x="3730100" y="1152425"/>
              <a:ext cx="1182300" cy="319200"/>
            </a:xfrm>
            <a:prstGeom prst="roundRect">
              <a:avLst>
                <a:gd fmla="val 16667" name="adj"/>
              </a:avLst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b="0" i="0" lang="pt-BR" sz="1100" u="none" cap="none" strike="noStrike">
                  <a:solidFill>
                    <a:srgbClr val="1B786F"/>
                  </a:solidFill>
                  <a:latin typeface="Roboto"/>
                  <a:ea typeface="Roboto"/>
                  <a:cs typeface="Roboto"/>
                  <a:sym typeface="Roboto"/>
                </a:rPr>
                <a:t>Banco de Dados 1</a:t>
              </a:r>
              <a:endParaRPr b="0" i="0" sz="1100" u="none" cap="none" strike="noStrike">
                <a:solidFill>
                  <a:srgbClr val="1B786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06" name="Google Shape;106;p14"/>
            <p:cNvSpPr/>
            <p:nvPr/>
          </p:nvSpPr>
          <p:spPr>
            <a:xfrm>
              <a:off x="3476125" y="1152425"/>
              <a:ext cx="174000" cy="174000"/>
            </a:xfrm>
            <a:prstGeom prst="ellipse">
              <a:avLst/>
            </a:prstGeom>
            <a:solidFill>
              <a:srgbClr val="1D7E7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107" name="Google Shape;107;p14"/>
          <p:cNvCxnSpPr>
            <a:endCxn id="108" idx="2"/>
          </p:cNvCxnSpPr>
          <p:nvPr/>
        </p:nvCxnSpPr>
        <p:spPr>
          <a:xfrm>
            <a:off x="4269500" y="2147575"/>
            <a:ext cx="753000" cy="600"/>
          </a:xfrm>
          <a:prstGeom prst="bentConnector3">
            <a:avLst>
              <a:gd fmla="val 50033" name="adj1"/>
            </a:avLst>
          </a:prstGeom>
          <a:noFill/>
          <a:ln cap="flat" cmpd="sng" w="9525">
            <a:solidFill>
              <a:srgbClr val="C2C2C2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09" name="Google Shape;109;p14"/>
          <p:cNvGrpSpPr/>
          <p:nvPr/>
        </p:nvGrpSpPr>
        <p:grpSpPr>
          <a:xfrm>
            <a:off x="5022500" y="1988575"/>
            <a:ext cx="1356300" cy="319200"/>
            <a:chOff x="5592550" y="3805350"/>
            <a:chExt cx="1356300" cy="319200"/>
          </a:xfrm>
        </p:grpSpPr>
        <p:sp>
          <p:nvSpPr>
            <p:cNvPr id="110" name="Google Shape;110;p14"/>
            <p:cNvSpPr/>
            <p:nvPr/>
          </p:nvSpPr>
          <p:spPr>
            <a:xfrm>
              <a:off x="5766550" y="3805350"/>
              <a:ext cx="1182300" cy="319200"/>
            </a:xfrm>
            <a:prstGeom prst="roundRect">
              <a:avLst>
                <a:gd fmla="val 16667" name="adj"/>
              </a:avLst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b="0" i="0" lang="pt-BR" sz="1100" u="none" cap="none" strike="noStrike">
                  <a:solidFill>
                    <a:srgbClr val="1B786F"/>
                  </a:solidFill>
                  <a:latin typeface="Roboto"/>
                  <a:ea typeface="Roboto"/>
                  <a:cs typeface="Roboto"/>
                  <a:sym typeface="Roboto"/>
                </a:rPr>
                <a:t>Projetos SQL</a:t>
              </a:r>
              <a:endParaRPr b="0" i="0" sz="1100" u="none" cap="none" strike="noStrike">
                <a:solidFill>
                  <a:srgbClr val="1B786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08" name="Google Shape;108;p14"/>
            <p:cNvSpPr/>
            <p:nvPr/>
          </p:nvSpPr>
          <p:spPr>
            <a:xfrm>
              <a:off x="5592550" y="3877950"/>
              <a:ext cx="174000" cy="174000"/>
            </a:xfrm>
            <a:prstGeom prst="ellipse">
              <a:avLst/>
            </a:prstGeom>
            <a:solidFill>
              <a:srgbClr val="249C9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11" name="Google Shape;111;p14"/>
          <p:cNvGrpSpPr/>
          <p:nvPr/>
        </p:nvGrpSpPr>
        <p:grpSpPr>
          <a:xfrm>
            <a:off x="3080125" y="2700038"/>
            <a:ext cx="1436275" cy="319200"/>
            <a:chOff x="3476125" y="1152425"/>
            <a:chExt cx="1436275" cy="319200"/>
          </a:xfrm>
        </p:grpSpPr>
        <p:sp>
          <p:nvSpPr>
            <p:cNvPr id="112" name="Google Shape;112;p14"/>
            <p:cNvSpPr/>
            <p:nvPr/>
          </p:nvSpPr>
          <p:spPr>
            <a:xfrm>
              <a:off x="3730100" y="1152425"/>
              <a:ext cx="1182300" cy="319200"/>
            </a:xfrm>
            <a:prstGeom prst="roundRect">
              <a:avLst>
                <a:gd fmla="val 16667" name="adj"/>
              </a:avLst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b="0" i="0" lang="pt-BR" sz="1100" u="none" cap="none" strike="noStrike">
                  <a:solidFill>
                    <a:srgbClr val="1B786F"/>
                  </a:solidFill>
                  <a:latin typeface="Roboto"/>
                  <a:ea typeface="Roboto"/>
                  <a:cs typeface="Roboto"/>
                  <a:sym typeface="Roboto"/>
                </a:rPr>
                <a:t>Lógica de Programação</a:t>
              </a:r>
              <a:endParaRPr b="0" i="0" sz="1100" u="none" cap="none" strike="noStrike">
                <a:solidFill>
                  <a:srgbClr val="1B786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13" name="Google Shape;113;p14"/>
            <p:cNvSpPr/>
            <p:nvPr/>
          </p:nvSpPr>
          <p:spPr>
            <a:xfrm>
              <a:off x="3476125" y="1152425"/>
              <a:ext cx="174000" cy="174000"/>
            </a:xfrm>
            <a:prstGeom prst="ellipse">
              <a:avLst/>
            </a:prstGeom>
            <a:solidFill>
              <a:srgbClr val="1D7E7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14" name="Google Shape;114;p14"/>
          <p:cNvGrpSpPr/>
          <p:nvPr/>
        </p:nvGrpSpPr>
        <p:grpSpPr>
          <a:xfrm>
            <a:off x="5022434" y="2642550"/>
            <a:ext cx="1603147" cy="319200"/>
            <a:chOff x="5592550" y="3805350"/>
            <a:chExt cx="1356300" cy="319200"/>
          </a:xfrm>
        </p:grpSpPr>
        <p:sp>
          <p:nvSpPr>
            <p:cNvPr id="115" name="Google Shape;115;p14"/>
            <p:cNvSpPr/>
            <p:nvPr/>
          </p:nvSpPr>
          <p:spPr>
            <a:xfrm>
              <a:off x="5766550" y="3805350"/>
              <a:ext cx="1182300" cy="319200"/>
            </a:xfrm>
            <a:prstGeom prst="roundRect">
              <a:avLst>
                <a:gd fmla="val 16667" name="adj"/>
              </a:avLst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b="0" i="0" lang="pt-BR" sz="1100" u="none" cap="none" strike="noStrike">
                  <a:solidFill>
                    <a:srgbClr val="1B786F"/>
                  </a:solidFill>
                  <a:latin typeface="Roboto"/>
                  <a:ea typeface="Roboto"/>
                  <a:cs typeface="Roboto"/>
                  <a:sym typeface="Roboto"/>
                </a:rPr>
                <a:t>Provas Práticas</a:t>
              </a:r>
              <a:endParaRPr b="0" i="0" sz="1100" u="none" cap="none" strike="noStrike">
                <a:solidFill>
                  <a:srgbClr val="1B786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16" name="Google Shape;116;p14"/>
            <p:cNvSpPr/>
            <p:nvPr/>
          </p:nvSpPr>
          <p:spPr>
            <a:xfrm>
              <a:off x="5592550" y="3877950"/>
              <a:ext cx="174000" cy="174000"/>
            </a:xfrm>
            <a:prstGeom prst="ellipse">
              <a:avLst/>
            </a:prstGeom>
            <a:solidFill>
              <a:srgbClr val="249C9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17" name="Google Shape;117;p14"/>
          <p:cNvGrpSpPr/>
          <p:nvPr/>
        </p:nvGrpSpPr>
        <p:grpSpPr>
          <a:xfrm>
            <a:off x="5022724" y="3079825"/>
            <a:ext cx="1898142" cy="319200"/>
            <a:chOff x="5592550" y="3805350"/>
            <a:chExt cx="1356300" cy="319200"/>
          </a:xfrm>
        </p:grpSpPr>
        <p:sp>
          <p:nvSpPr>
            <p:cNvPr id="118" name="Google Shape;118;p14"/>
            <p:cNvSpPr/>
            <p:nvPr/>
          </p:nvSpPr>
          <p:spPr>
            <a:xfrm>
              <a:off x="5766550" y="3805350"/>
              <a:ext cx="1182300" cy="319200"/>
            </a:xfrm>
            <a:prstGeom prst="roundRect">
              <a:avLst>
                <a:gd fmla="val 16667" name="adj"/>
              </a:avLst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b="0" i="0" lang="pt-BR" sz="1100" u="none" cap="none" strike="noStrike">
                  <a:solidFill>
                    <a:srgbClr val="1B786F"/>
                  </a:solidFill>
                  <a:latin typeface="Roboto"/>
                  <a:ea typeface="Roboto"/>
                  <a:cs typeface="Roboto"/>
                  <a:sym typeface="Roboto"/>
                </a:rPr>
                <a:t>Códigos em Python</a:t>
              </a:r>
              <a:endParaRPr b="0" i="0" sz="1100" u="none" cap="none" strike="noStrike">
                <a:solidFill>
                  <a:srgbClr val="1B786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19" name="Google Shape;119;p14"/>
            <p:cNvSpPr/>
            <p:nvPr/>
          </p:nvSpPr>
          <p:spPr>
            <a:xfrm>
              <a:off x="5592550" y="3877950"/>
              <a:ext cx="174000" cy="174000"/>
            </a:xfrm>
            <a:prstGeom prst="ellipse">
              <a:avLst/>
            </a:prstGeom>
            <a:solidFill>
              <a:srgbClr val="249C9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20" name="Google Shape;120;p14"/>
          <p:cNvGrpSpPr/>
          <p:nvPr/>
        </p:nvGrpSpPr>
        <p:grpSpPr>
          <a:xfrm>
            <a:off x="3080125" y="3429638"/>
            <a:ext cx="1436275" cy="319200"/>
            <a:chOff x="3476125" y="1152425"/>
            <a:chExt cx="1436275" cy="319200"/>
          </a:xfrm>
        </p:grpSpPr>
        <p:sp>
          <p:nvSpPr>
            <p:cNvPr id="121" name="Google Shape;121;p14"/>
            <p:cNvSpPr/>
            <p:nvPr/>
          </p:nvSpPr>
          <p:spPr>
            <a:xfrm>
              <a:off x="3730100" y="1152425"/>
              <a:ext cx="1182300" cy="319200"/>
            </a:xfrm>
            <a:prstGeom prst="roundRect">
              <a:avLst>
                <a:gd fmla="val 16667" name="adj"/>
              </a:avLst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b="0" i="0" lang="pt-BR" sz="1100" u="none" cap="none" strike="noStrike">
                  <a:solidFill>
                    <a:srgbClr val="1B786F"/>
                  </a:solidFill>
                  <a:latin typeface="Roboto"/>
                  <a:ea typeface="Roboto"/>
                  <a:cs typeface="Roboto"/>
                  <a:sym typeface="Roboto"/>
                </a:rPr>
                <a:t>Introdução a Computação</a:t>
              </a:r>
              <a:endParaRPr b="0" i="0" sz="1100" u="none" cap="none" strike="noStrike">
                <a:solidFill>
                  <a:srgbClr val="1B786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22" name="Google Shape;122;p14"/>
            <p:cNvSpPr/>
            <p:nvPr/>
          </p:nvSpPr>
          <p:spPr>
            <a:xfrm>
              <a:off x="3476125" y="1152425"/>
              <a:ext cx="174000" cy="174000"/>
            </a:xfrm>
            <a:prstGeom prst="ellipse">
              <a:avLst/>
            </a:prstGeom>
            <a:solidFill>
              <a:srgbClr val="1D7E7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23" name="Google Shape;123;p14"/>
          <p:cNvGrpSpPr/>
          <p:nvPr/>
        </p:nvGrpSpPr>
        <p:grpSpPr>
          <a:xfrm>
            <a:off x="3080125" y="4375875"/>
            <a:ext cx="1436275" cy="319200"/>
            <a:chOff x="3476125" y="1152425"/>
            <a:chExt cx="1436275" cy="319200"/>
          </a:xfrm>
        </p:grpSpPr>
        <p:sp>
          <p:nvSpPr>
            <p:cNvPr id="124" name="Google Shape;124;p14"/>
            <p:cNvSpPr/>
            <p:nvPr/>
          </p:nvSpPr>
          <p:spPr>
            <a:xfrm>
              <a:off x="3730100" y="1152425"/>
              <a:ext cx="1182300" cy="319200"/>
            </a:xfrm>
            <a:prstGeom prst="roundRect">
              <a:avLst>
                <a:gd fmla="val 16667" name="adj"/>
              </a:avLst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b="0" i="0" lang="pt-BR" sz="1100" u="none" cap="none" strike="noStrike">
                  <a:solidFill>
                    <a:srgbClr val="1B786F"/>
                  </a:solidFill>
                  <a:latin typeface="Roboto"/>
                  <a:ea typeface="Roboto"/>
                  <a:cs typeface="Roboto"/>
                  <a:sym typeface="Roboto"/>
                </a:rPr>
                <a:t>Organização e Arquitetura de Computadores</a:t>
              </a:r>
              <a:endParaRPr b="0" i="0" sz="1100" u="none" cap="none" strike="noStrike">
                <a:solidFill>
                  <a:srgbClr val="1B786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25" name="Google Shape;125;p14"/>
            <p:cNvSpPr/>
            <p:nvPr/>
          </p:nvSpPr>
          <p:spPr>
            <a:xfrm>
              <a:off x="3476125" y="1152425"/>
              <a:ext cx="174000" cy="174000"/>
            </a:xfrm>
            <a:prstGeom prst="ellipse">
              <a:avLst/>
            </a:prstGeom>
            <a:solidFill>
              <a:srgbClr val="1D7E7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126" name="Google Shape;126;p14"/>
          <p:cNvCxnSpPr/>
          <p:nvPr/>
        </p:nvCxnSpPr>
        <p:spPr>
          <a:xfrm>
            <a:off x="4269500" y="2802000"/>
            <a:ext cx="753000" cy="600"/>
          </a:xfrm>
          <a:prstGeom prst="bentConnector3">
            <a:avLst>
              <a:gd fmla="val 50033" name="adj1"/>
            </a:avLst>
          </a:prstGeom>
          <a:noFill/>
          <a:ln cap="flat" cmpd="sng" w="9525">
            <a:solidFill>
              <a:srgbClr val="C2C2C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7" name="Google Shape;127;p14"/>
          <p:cNvCxnSpPr>
            <a:endCxn id="119" idx="2"/>
          </p:cNvCxnSpPr>
          <p:nvPr/>
        </p:nvCxnSpPr>
        <p:spPr>
          <a:xfrm>
            <a:off x="4269724" y="2802025"/>
            <a:ext cx="753000" cy="4374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rgbClr val="C2C2C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8" name="Google Shape;128;p14"/>
          <p:cNvCxnSpPr/>
          <p:nvPr/>
        </p:nvCxnSpPr>
        <p:spPr>
          <a:xfrm flipH="1" rot="10800000">
            <a:off x="4392950" y="3621600"/>
            <a:ext cx="758400" cy="33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rgbClr val="C2C2C2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29" name="Google Shape;129;p14"/>
          <p:cNvGrpSpPr/>
          <p:nvPr/>
        </p:nvGrpSpPr>
        <p:grpSpPr>
          <a:xfrm>
            <a:off x="5080975" y="3463650"/>
            <a:ext cx="1356300" cy="319200"/>
            <a:chOff x="5592550" y="3805350"/>
            <a:chExt cx="1356300" cy="319200"/>
          </a:xfrm>
        </p:grpSpPr>
        <p:sp>
          <p:nvSpPr>
            <p:cNvPr id="130" name="Google Shape;130;p14"/>
            <p:cNvSpPr/>
            <p:nvPr/>
          </p:nvSpPr>
          <p:spPr>
            <a:xfrm>
              <a:off x="5766550" y="3805350"/>
              <a:ext cx="1182300" cy="319200"/>
            </a:xfrm>
            <a:prstGeom prst="roundRect">
              <a:avLst>
                <a:gd fmla="val 16667" name="adj"/>
              </a:avLst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b="0" i="0" lang="pt-BR" sz="1100" u="none" cap="none" strike="noStrike">
                  <a:solidFill>
                    <a:srgbClr val="1B786F"/>
                  </a:solidFill>
                  <a:latin typeface="Roboto"/>
                  <a:ea typeface="Roboto"/>
                  <a:cs typeface="Roboto"/>
                  <a:sym typeface="Roboto"/>
                </a:rPr>
                <a:t>Avaliações</a:t>
              </a:r>
              <a:endParaRPr b="0" i="0" sz="1100" u="none" cap="none" strike="noStrike">
                <a:solidFill>
                  <a:srgbClr val="1B786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31" name="Google Shape;131;p14"/>
            <p:cNvSpPr/>
            <p:nvPr/>
          </p:nvSpPr>
          <p:spPr>
            <a:xfrm>
              <a:off x="5592550" y="3877950"/>
              <a:ext cx="174000" cy="174000"/>
            </a:xfrm>
            <a:prstGeom prst="ellipse">
              <a:avLst/>
            </a:prstGeom>
            <a:solidFill>
              <a:srgbClr val="249C9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32" name="Google Shape;132;p14"/>
          <p:cNvGrpSpPr/>
          <p:nvPr/>
        </p:nvGrpSpPr>
        <p:grpSpPr>
          <a:xfrm>
            <a:off x="5080975" y="3836300"/>
            <a:ext cx="1356300" cy="319200"/>
            <a:chOff x="5592550" y="3805350"/>
            <a:chExt cx="1356300" cy="319200"/>
          </a:xfrm>
        </p:grpSpPr>
        <p:sp>
          <p:nvSpPr>
            <p:cNvPr id="133" name="Google Shape;133;p14"/>
            <p:cNvSpPr/>
            <p:nvPr/>
          </p:nvSpPr>
          <p:spPr>
            <a:xfrm>
              <a:off x="5766550" y="3805350"/>
              <a:ext cx="1182300" cy="319200"/>
            </a:xfrm>
            <a:prstGeom prst="roundRect">
              <a:avLst>
                <a:gd fmla="val 16667" name="adj"/>
              </a:avLst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b="0" i="0" lang="pt-BR" sz="1100" u="none" cap="none" strike="noStrike">
                  <a:solidFill>
                    <a:srgbClr val="1B786F"/>
                  </a:solidFill>
                  <a:latin typeface="Roboto"/>
                  <a:ea typeface="Roboto"/>
                  <a:cs typeface="Roboto"/>
                  <a:sym typeface="Roboto"/>
                </a:rPr>
                <a:t>Exercícios</a:t>
              </a:r>
              <a:endParaRPr b="0" i="0" sz="1100" u="none" cap="none" strike="noStrike">
                <a:solidFill>
                  <a:srgbClr val="1B786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34" name="Google Shape;134;p14"/>
            <p:cNvSpPr/>
            <p:nvPr/>
          </p:nvSpPr>
          <p:spPr>
            <a:xfrm>
              <a:off x="5592550" y="3877950"/>
              <a:ext cx="174000" cy="174000"/>
            </a:xfrm>
            <a:prstGeom prst="ellipse">
              <a:avLst/>
            </a:prstGeom>
            <a:solidFill>
              <a:srgbClr val="249C9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135" name="Google Shape;135;p14"/>
          <p:cNvCxnSpPr>
            <a:endCxn id="134" idx="2"/>
          </p:cNvCxnSpPr>
          <p:nvPr/>
        </p:nvCxnSpPr>
        <p:spPr>
          <a:xfrm>
            <a:off x="4393075" y="3619400"/>
            <a:ext cx="687900" cy="3765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rgbClr val="C2C2C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6" name="Google Shape;136;p14"/>
          <p:cNvCxnSpPr>
            <a:stCxn id="124" idx="3"/>
            <a:endCxn id="137" idx="2"/>
          </p:cNvCxnSpPr>
          <p:nvPr/>
        </p:nvCxnSpPr>
        <p:spPr>
          <a:xfrm flipH="1" rot="10800000">
            <a:off x="4516400" y="4526475"/>
            <a:ext cx="564600" cy="9000"/>
          </a:xfrm>
          <a:prstGeom prst="bentConnector3">
            <a:avLst>
              <a:gd fmla="val 49998" name="adj1"/>
            </a:avLst>
          </a:prstGeom>
          <a:noFill/>
          <a:ln cap="flat" cmpd="sng" w="9525">
            <a:solidFill>
              <a:srgbClr val="C2C2C2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38" name="Google Shape;138;p14"/>
          <p:cNvGrpSpPr/>
          <p:nvPr/>
        </p:nvGrpSpPr>
        <p:grpSpPr>
          <a:xfrm>
            <a:off x="5080975" y="4366900"/>
            <a:ext cx="1356300" cy="319200"/>
            <a:chOff x="5592550" y="3805350"/>
            <a:chExt cx="1356300" cy="319200"/>
          </a:xfrm>
        </p:grpSpPr>
        <p:sp>
          <p:nvSpPr>
            <p:cNvPr id="139" name="Google Shape;139;p14"/>
            <p:cNvSpPr/>
            <p:nvPr/>
          </p:nvSpPr>
          <p:spPr>
            <a:xfrm>
              <a:off x="5766550" y="3805350"/>
              <a:ext cx="1182300" cy="319200"/>
            </a:xfrm>
            <a:prstGeom prst="roundRect">
              <a:avLst>
                <a:gd fmla="val 16667" name="adj"/>
              </a:avLst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b="0" i="0" lang="pt-BR" sz="1100" u="none" cap="none" strike="noStrike">
                  <a:solidFill>
                    <a:srgbClr val="1B786F"/>
                  </a:solidFill>
                  <a:latin typeface="Roboto"/>
                  <a:ea typeface="Roboto"/>
                  <a:cs typeface="Roboto"/>
                  <a:sym typeface="Roboto"/>
                </a:rPr>
                <a:t>Exercícios</a:t>
              </a:r>
              <a:endParaRPr b="0" i="0" sz="1100" u="none" cap="none" strike="noStrike">
                <a:solidFill>
                  <a:srgbClr val="1B786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37" name="Google Shape;137;p14"/>
            <p:cNvSpPr/>
            <p:nvPr/>
          </p:nvSpPr>
          <p:spPr>
            <a:xfrm>
              <a:off x="5592550" y="3877950"/>
              <a:ext cx="174000" cy="174000"/>
            </a:xfrm>
            <a:prstGeom prst="ellipse">
              <a:avLst/>
            </a:prstGeom>
            <a:solidFill>
              <a:srgbClr val="249C9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140" name="Google Shape;140;p14"/>
          <p:cNvCxnSpPr>
            <a:endCxn id="125" idx="2"/>
          </p:cNvCxnSpPr>
          <p:nvPr/>
        </p:nvCxnSpPr>
        <p:spPr>
          <a:xfrm flipH="1" rot="-5400000">
            <a:off x="1950175" y="3332925"/>
            <a:ext cx="1943400" cy="316500"/>
          </a:xfrm>
          <a:prstGeom prst="bentConnector2">
            <a:avLst/>
          </a:prstGeom>
          <a:noFill/>
          <a:ln cap="flat" cmpd="sng" w="9525">
            <a:solidFill>
              <a:srgbClr val="C2C2C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41" name="Google Shape;141;p14"/>
          <p:cNvCxnSpPr>
            <a:stCxn id="75" idx="6"/>
          </p:cNvCxnSpPr>
          <p:nvPr/>
        </p:nvCxnSpPr>
        <p:spPr>
          <a:xfrm>
            <a:off x="2471725" y="2524775"/>
            <a:ext cx="302400" cy="980100"/>
          </a:xfrm>
          <a:prstGeom prst="bentConnector2">
            <a:avLst/>
          </a:prstGeom>
          <a:noFill/>
          <a:ln cap="flat" cmpd="sng" w="9525">
            <a:solidFill>
              <a:srgbClr val="C2C2C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42" name="Google Shape;142;p14"/>
          <p:cNvCxnSpPr/>
          <p:nvPr/>
        </p:nvCxnSpPr>
        <p:spPr>
          <a:xfrm>
            <a:off x="2774125" y="3504875"/>
            <a:ext cx="372600" cy="6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43" name="Google Shape;143;p14"/>
          <p:cNvGrpSpPr/>
          <p:nvPr/>
        </p:nvGrpSpPr>
        <p:grpSpPr>
          <a:xfrm>
            <a:off x="5022500" y="592150"/>
            <a:ext cx="1784400" cy="319200"/>
            <a:chOff x="5592550" y="1018950"/>
            <a:chExt cx="1784400" cy="319200"/>
          </a:xfrm>
        </p:grpSpPr>
        <p:sp>
          <p:nvSpPr>
            <p:cNvPr id="144" name="Google Shape;144;p14"/>
            <p:cNvSpPr/>
            <p:nvPr/>
          </p:nvSpPr>
          <p:spPr>
            <a:xfrm>
              <a:off x="5766550" y="1018950"/>
              <a:ext cx="1610400" cy="319200"/>
            </a:xfrm>
            <a:prstGeom prst="roundRect">
              <a:avLst>
                <a:gd fmla="val 16667" name="adj"/>
              </a:avLst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b="0" i="0" lang="pt-BR" sz="1100" u="none" cap="none" strike="noStrike">
                  <a:solidFill>
                    <a:srgbClr val="1B786F"/>
                  </a:solidFill>
                  <a:latin typeface="Roboto"/>
                  <a:ea typeface="Roboto"/>
                  <a:cs typeface="Roboto"/>
                  <a:sym typeface="Roboto"/>
                </a:rPr>
                <a:t>Desafio Final</a:t>
              </a:r>
              <a:endParaRPr b="0" i="0" sz="1100" u="none" cap="none" strike="noStrike">
                <a:solidFill>
                  <a:srgbClr val="1B786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45" name="Google Shape;145;p14"/>
            <p:cNvSpPr/>
            <p:nvPr/>
          </p:nvSpPr>
          <p:spPr>
            <a:xfrm>
              <a:off x="5592550" y="1091550"/>
              <a:ext cx="174000" cy="174000"/>
            </a:xfrm>
            <a:prstGeom prst="ellipse">
              <a:avLst/>
            </a:prstGeom>
            <a:solidFill>
              <a:srgbClr val="249C9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146" name="Google Shape;146;p14"/>
          <p:cNvCxnSpPr>
            <a:stCxn id="85" idx="3"/>
            <a:endCxn id="103" idx="3"/>
          </p:cNvCxnSpPr>
          <p:nvPr/>
        </p:nvCxnSpPr>
        <p:spPr>
          <a:xfrm>
            <a:off x="4516400" y="1265050"/>
            <a:ext cx="531600" cy="286800"/>
          </a:xfrm>
          <a:prstGeom prst="bentConnector4">
            <a:avLst>
              <a:gd fmla="val 47602" name="adj1"/>
              <a:gd fmla="val 97289" name="adj2"/>
            </a:avLst>
          </a:prstGeom>
          <a:noFill/>
          <a:ln cap="flat" cmpd="sng" w="9525">
            <a:solidFill>
              <a:srgbClr val="C2C2C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47" name="Google Shape;147;p14"/>
          <p:cNvCxnSpPr>
            <a:stCxn id="80" idx="3"/>
            <a:endCxn id="145" idx="2"/>
          </p:cNvCxnSpPr>
          <p:nvPr/>
        </p:nvCxnSpPr>
        <p:spPr>
          <a:xfrm>
            <a:off x="4436300" y="751750"/>
            <a:ext cx="586200" cy="6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rgbClr val="C2C2C2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48" name="Google Shape;148;p14"/>
          <p:cNvGrpSpPr/>
          <p:nvPr/>
        </p:nvGrpSpPr>
        <p:grpSpPr>
          <a:xfrm>
            <a:off x="5022500" y="2242051"/>
            <a:ext cx="1784400" cy="319200"/>
            <a:chOff x="5592550" y="3805363"/>
            <a:chExt cx="1784400" cy="319200"/>
          </a:xfrm>
        </p:grpSpPr>
        <p:sp>
          <p:nvSpPr>
            <p:cNvPr id="149" name="Google Shape;149;p14"/>
            <p:cNvSpPr/>
            <p:nvPr/>
          </p:nvSpPr>
          <p:spPr>
            <a:xfrm>
              <a:off x="5766550" y="3805363"/>
              <a:ext cx="1610400" cy="319200"/>
            </a:xfrm>
            <a:prstGeom prst="roundRect">
              <a:avLst>
                <a:gd fmla="val 16667" name="adj"/>
              </a:avLst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b="0" i="0" lang="pt-BR" sz="1100" u="none" cap="none" strike="noStrike">
                  <a:solidFill>
                    <a:srgbClr val="1B786F"/>
                  </a:solidFill>
                  <a:latin typeface="Roboto"/>
                  <a:ea typeface="Roboto"/>
                  <a:cs typeface="Roboto"/>
                  <a:sym typeface="Roboto"/>
                </a:rPr>
                <a:t>Modelagem de Dados</a:t>
              </a:r>
              <a:endParaRPr b="0" i="0" sz="1100" u="none" cap="none" strike="noStrike">
                <a:solidFill>
                  <a:srgbClr val="1B786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50" name="Google Shape;150;p14"/>
            <p:cNvSpPr/>
            <p:nvPr/>
          </p:nvSpPr>
          <p:spPr>
            <a:xfrm>
              <a:off x="5592550" y="3877950"/>
              <a:ext cx="174000" cy="174000"/>
            </a:xfrm>
            <a:prstGeom prst="ellipse">
              <a:avLst/>
            </a:prstGeom>
            <a:solidFill>
              <a:srgbClr val="249C9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151" name="Google Shape;151;p14"/>
          <p:cNvCxnSpPr>
            <a:endCxn id="106" idx="2"/>
          </p:cNvCxnSpPr>
          <p:nvPr/>
        </p:nvCxnSpPr>
        <p:spPr>
          <a:xfrm rot="-5400000">
            <a:off x="2655413" y="2175950"/>
            <a:ext cx="503100" cy="266100"/>
          </a:xfrm>
          <a:prstGeom prst="bentConnector2">
            <a:avLst/>
          </a:prstGeom>
          <a:noFill/>
          <a:ln cap="flat" cmpd="sng" w="9525">
            <a:solidFill>
              <a:srgbClr val="C2C2C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52" name="Google Shape;152;p14"/>
          <p:cNvCxnSpPr>
            <a:endCxn id="113" idx="3"/>
          </p:cNvCxnSpPr>
          <p:nvPr/>
        </p:nvCxnSpPr>
        <p:spPr>
          <a:xfrm>
            <a:off x="2784307" y="2539856"/>
            <a:ext cx="321300" cy="308700"/>
          </a:xfrm>
          <a:prstGeom prst="bentConnector4">
            <a:avLst>
              <a:gd fmla="val -10" name="adj1"/>
              <a:gd fmla="val 99796" name="adj2"/>
            </a:avLst>
          </a:prstGeom>
          <a:noFill/>
          <a:ln cap="flat" cmpd="sng" w="9525">
            <a:solidFill>
              <a:srgbClr val="C2C2C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53" name="Google Shape;153;p14"/>
          <p:cNvCxnSpPr>
            <a:endCxn id="150" idx="3"/>
          </p:cNvCxnSpPr>
          <p:nvPr/>
        </p:nvCxnSpPr>
        <p:spPr>
          <a:xfrm>
            <a:off x="4269482" y="2144556"/>
            <a:ext cx="778500" cy="318600"/>
          </a:xfrm>
          <a:prstGeom prst="bentConnector4">
            <a:avLst>
              <a:gd fmla="val 48364" name="adj1"/>
              <a:gd fmla="val 94750" name="adj2"/>
            </a:avLst>
          </a:prstGeom>
          <a:noFill/>
          <a:ln cap="flat" cmpd="sng" w="9525">
            <a:solidFill>
              <a:srgbClr val="C2C2C2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58" name="Google Shape;158;p15"/>
          <p:cNvGraphicFramePr/>
          <p:nvPr/>
        </p:nvGraphicFramePr>
        <p:xfrm>
          <a:off x="870375" y="1020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{8C80DA54-7F9A-4ABA-B3C7-87D3AC5BA84D}</a:tableStyleId>
              </a:tblPr>
              <a:tblGrid>
                <a:gridCol w="1055775"/>
                <a:gridCol w="2308300"/>
                <a:gridCol w="1938875"/>
                <a:gridCol w="2556850"/>
              </a:tblGrid>
              <a:tr h="4052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pt-BR" sz="1400" u="none" cap="none" strike="noStrike">
                          <a:solidFill>
                            <a:srgbClr val="CC0000"/>
                          </a:solidFill>
                          <a:highlight>
                            <a:schemeClr val="lt1"/>
                          </a:highlight>
                        </a:rPr>
                        <a:t>Semestre</a:t>
                      </a:r>
                      <a:endParaRPr b="1" sz="1400" u="none" cap="none" strike="noStrike">
                        <a:solidFill>
                          <a:srgbClr val="CC0000"/>
                        </a:solidFill>
                        <a:highlight>
                          <a:schemeClr val="lt1"/>
                        </a:highlight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pt-BR" sz="1400" u="none" cap="none" strike="noStrike">
                          <a:solidFill>
                            <a:srgbClr val="CC0000"/>
                          </a:solidFill>
                          <a:highlight>
                            <a:schemeClr val="lt1"/>
                          </a:highlight>
                        </a:rPr>
                        <a:t>Disciplina</a:t>
                      </a:r>
                      <a:endParaRPr b="1" sz="1400" u="none" cap="none" strike="noStrike">
                        <a:solidFill>
                          <a:srgbClr val="CC0000"/>
                        </a:solidFill>
                        <a:highlight>
                          <a:schemeClr val="lt1"/>
                        </a:highlight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pt-BR" sz="1400" u="none" cap="none" strike="noStrike">
                          <a:solidFill>
                            <a:srgbClr val="CC0000"/>
                          </a:solidFill>
                          <a:highlight>
                            <a:schemeClr val="lt1"/>
                          </a:highlight>
                        </a:rPr>
                        <a:t>Tipo de Material</a:t>
                      </a:r>
                      <a:endParaRPr b="1" sz="1400" u="none" cap="none" strike="noStrike">
                        <a:solidFill>
                          <a:srgbClr val="CC0000"/>
                        </a:solidFill>
                        <a:highlight>
                          <a:schemeClr val="lt1"/>
                        </a:highlight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pt-BR" sz="1400" u="none" cap="none" strike="noStrike">
                          <a:solidFill>
                            <a:srgbClr val="CC0000"/>
                          </a:solidFill>
                          <a:highlight>
                            <a:schemeClr val="lt1"/>
                          </a:highlight>
                        </a:rPr>
                        <a:t>Justificativa</a:t>
                      </a:r>
                      <a:endParaRPr b="1" sz="1400" u="none" cap="none" strike="noStrike">
                        <a:solidFill>
                          <a:srgbClr val="CC0000"/>
                        </a:solidFill>
                        <a:highlight>
                          <a:schemeClr val="lt1"/>
                        </a:highlight>
                      </a:endParaRPr>
                    </a:p>
                  </a:txBody>
                  <a:tcPr marT="91425" marB="91425" marR="91425" marL="91425"/>
                </a:tc>
              </a:tr>
              <a:tr h="9964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pt-BR" sz="1100" u="none" cap="none" strike="noStrike"/>
                        <a:t>1</a:t>
                      </a:r>
                      <a:endParaRPr sz="11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pt-BR" sz="1100" u="none" cap="none" strike="noStrike"/>
                        <a:t>Bootcamp 1</a:t>
                      </a:r>
                      <a:endParaRPr sz="11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pt-BR" sz="1100" u="none" cap="none" strike="noStrike"/>
                        <a:t>Planejamento da arquitetura do Studyhub e entregas do projeto.</a:t>
                      </a:r>
                      <a:endParaRPr sz="11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pt-BR" sz="1100" u="none" cap="none" strike="noStrike"/>
                        <a:t>Criação de portfólio e organização para todo o curso </a:t>
                      </a:r>
                      <a:endParaRPr sz="1100" u="none" cap="none" strike="noStrike"/>
                    </a:p>
                  </a:txBody>
                  <a:tcPr marT="91425" marB="91425" marR="91425" marL="91425"/>
                </a:tc>
              </a:tr>
              <a:tr h="6235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pt-BR" sz="1100" u="none" cap="none" strike="noStrike"/>
                        <a:t>1</a:t>
                      </a:r>
                      <a:endParaRPr sz="11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pt-BR" sz="1100" u="none" cap="none" strike="noStrike"/>
                        <a:t>Banco de Dados 1</a:t>
                      </a:r>
                      <a:endParaRPr sz="11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pt-BR" sz="1100" u="none" cap="none" strike="noStrike"/>
                        <a:t>Análise de banco de dados relacionais. Projetos SQL.</a:t>
                      </a:r>
                      <a:endParaRPr sz="11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pt-BR" sz="1100" u="none" cap="none" strike="noStrike"/>
                        <a:t>Projetos de leitura e criação de gráficos</a:t>
                      </a:r>
                      <a:endParaRPr sz="1100" u="none" cap="none" strike="noStrike"/>
                    </a:p>
                  </a:txBody>
                  <a:tcPr marT="91425" marB="91425" marR="91425" marL="91425"/>
                </a:tc>
              </a:tr>
              <a:tr h="6235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pt-BR" sz="1100" u="none" cap="none" strike="noStrike"/>
                        <a:t>1</a:t>
                      </a:r>
                      <a:endParaRPr sz="11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pt-BR" sz="1100" u="none" cap="none" strike="noStrike"/>
                        <a:t>Lógica de Programação</a:t>
                      </a:r>
                      <a:endParaRPr sz="11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pt-BR" sz="1100" u="none" cap="none" strike="noStrike"/>
                        <a:t>Projetos em Python</a:t>
                      </a:r>
                      <a:endParaRPr sz="11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pt-BR" sz="1100" u="none" cap="none" strike="noStrike"/>
                        <a:t>Códigos de exercícios em python</a:t>
                      </a:r>
                      <a:endParaRPr sz="1100" u="none" cap="none" strike="noStrike"/>
                    </a:p>
                  </a:txBody>
                  <a:tcPr marT="91425" marB="91425" marR="91425" marL="91425"/>
                </a:tc>
              </a:tr>
              <a:tr h="6235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pt-BR" sz="1100" u="none" cap="none" strike="noStrike"/>
                        <a:t>1</a:t>
                      </a:r>
                      <a:endParaRPr sz="11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pt-BR" sz="1100" u="none" cap="none" strike="noStrike"/>
                        <a:t>Introdução a computação</a:t>
                      </a:r>
                      <a:endParaRPr sz="11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pt-BR" sz="1100" u="none" cap="none" strike="noStrike"/>
                        <a:t>Leituras e avaliações</a:t>
                      </a:r>
                      <a:endParaRPr sz="11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pt-BR" sz="1100" u="none" cap="none" strike="noStrike"/>
                        <a:t>Compreensão da história da computação. Conversão de bases.</a:t>
                      </a:r>
                      <a:endParaRPr sz="1100" u="none" cap="none" strike="noStrike"/>
                    </a:p>
                  </a:txBody>
                  <a:tcPr marT="91425" marB="91425" marR="91425" marL="91425"/>
                </a:tc>
              </a:tr>
              <a:tr h="8418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pt-BR" sz="1100" u="none" cap="none" strike="noStrike"/>
                        <a:t>1</a:t>
                      </a:r>
                      <a:endParaRPr sz="11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pt-BR" sz="1100" u="none" cap="none" strike="noStrike"/>
                        <a:t>Organização e Arquitetura de Computadores</a:t>
                      </a:r>
                      <a:endParaRPr sz="11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pt-BR" sz="1100" u="none" cap="none" strike="noStrike"/>
                        <a:t>Leituras e avaliações</a:t>
                      </a:r>
                      <a:endParaRPr sz="11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pt-BR" sz="1100" u="none" cap="none" strike="noStrike"/>
                        <a:t>Conversão de bases binárias. Componentes de um computador. Entrada e saída.</a:t>
                      </a:r>
                      <a:endParaRPr sz="11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91425" marB="91425" marR="91425" marL="91425"/>
                </a:tc>
              </a:tr>
              <a:tr h="814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pt-BR" sz="1100" u="none" cap="none" strike="noStrike"/>
                        <a:t>1</a:t>
                      </a:r>
                      <a:endParaRPr sz="11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pt-BR" sz="1100" u="none" cap="none" strike="noStrike"/>
                        <a:t>Matemática para Computação</a:t>
                      </a:r>
                      <a:endParaRPr sz="11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pt-BR" sz="1100" u="none" cap="none" strike="noStrike"/>
                        <a:t>Webconferências e Exercícios avaliativos</a:t>
                      </a:r>
                      <a:endParaRPr sz="11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pt-BR" sz="1100" u="none" cap="none" strike="noStrike"/>
                        <a:t>Entendimento de proposições, relações, grafos, conjuntos.</a:t>
                      </a:r>
                      <a:endParaRPr sz="1100" u="none" cap="none" strike="noStrike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63" name="Google Shape;163;p16"/>
          <p:cNvGraphicFramePr/>
          <p:nvPr/>
        </p:nvGraphicFramePr>
        <p:xfrm>
          <a:off x="819025" y="1876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{8C80DA54-7F9A-4ABA-B3C7-87D3AC5BA84D}</a:tableStyleId>
              </a:tblPr>
              <a:tblGrid>
                <a:gridCol w="1809750"/>
                <a:gridCol w="1809750"/>
                <a:gridCol w="1809750"/>
                <a:gridCol w="1809750"/>
              </a:tblGrid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pt-BR" sz="1400" u="none" cap="none" strike="noStrike"/>
                        <a:t>Semestre</a:t>
                      </a:r>
                      <a:endParaRPr sz="1400" u="none" cap="none" strike="noStrike"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pt-BR" sz="1400" u="none" cap="none" strike="noStrike"/>
                        <a:t>Disciplina</a:t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pt-BR" sz="1400" u="none" cap="none" strike="noStrike"/>
                        <a:t>Material</a:t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pt-BR" sz="1400" u="none" cap="none" strike="noStrike"/>
                        <a:t>Justificativa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pt-BR" sz="1400" u="none" cap="none" strike="noStrike"/>
                        <a:t>2</a:t>
                      </a:r>
                      <a:endParaRPr sz="1400" u="none" cap="none" strike="noStrike"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pt-BR" sz="1400" u="none" cap="none" strike="noStrike"/>
                        <a:t>Algebra Linear e Geometria Analitica</a:t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pt-BR" sz="1400" u="none" cap="none" strike="noStrike"/>
                        <a:t>2</a:t>
                      </a:r>
                      <a:endParaRPr sz="1400" u="none" cap="none" strike="noStrike"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pt-BR" sz="1400" u="none" cap="none" strike="noStrike"/>
                        <a:t>Banco de Dados 2</a:t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pt-BR" sz="1400" u="none" cap="none" strike="noStrike"/>
                        <a:t>2</a:t>
                      </a:r>
                      <a:endParaRPr sz="1400" u="none" cap="none" strike="noStrike"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pt-BR" sz="1400" u="none" cap="none" strike="noStrike"/>
                        <a:t>Desenvolvimento de interfaces</a:t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pt-BR" sz="1400" u="none" cap="none" strike="noStrike"/>
                        <a:t>2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pt-BR" sz="1400" u="none" cap="none" strike="noStrike"/>
                        <a:t>Diálogo e reflexões Éticas</a:t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pt-BR" sz="1400" u="none" cap="none" strike="noStrike"/>
                        <a:t>2</a:t>
                      </a:r>
                      <a:endParaRPr sz="1400" u="none" cap="none" strike="noStrike"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pt-BR" sz="1400" u="none" cap="none" strike="noStrike"/>
                        <a:t>Engenharia de Software</a:t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pt-BR" sz="1400" u="none" cap="none" strike="noStrike"/>
                        <a:t>2</a:t>
                      </a:r>
                      <a:endParaRPr sz="1400" u="none" cap="none" strike="noStrike"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pt-BR" sz="1400" u="none" cap="none" strike="noStrike"/>
                        <a:t>Programação Orientada a Objetos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ropic">
  <a:themeElements>
    <a:clrScheme name="Tropic">
      <a:dk1>
        <a:srgbClr val="A1E8D9"/>
      </a:dk1>
      <a:lt1>
        <a:srgbClr val="FFFFFF"/>
      </a:lt1>
      <a:dk2>
        <a:srgbClr val="695D46"/>
      </a:dk2>
      <a:lt2>
        <a:srgbClr val="B3A77D"/>
      </a:lt2>
      <a:accent1>
        <a:srgbClr val="EF6C00"/>
      </a:accent1>
      <a:accent2>
        <a:srgbClr val="CE93D8"/>
      </a:accent2>
      <a:accent3>
        <a:srgbClr val="4DB6AC"/>
      </a:accent3>
      <a:accent4>
        <a:srgbClr val="FF9800"/>
      </a:accent4>
      <a:accent5>
        <a:srgbClr val="009668"/>
      </a:accent5>
      <a:accent6>
        <a:srgbClr val="EEFF41"/>
      </a:accent6>
      <a:hlink>
        <a:srgbClr val="009668"/>
      </a:hlink>
      <a:folHlink>
        <a:srgbClr val="00966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